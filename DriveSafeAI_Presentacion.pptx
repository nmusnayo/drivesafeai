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E8505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MAYOR DE SAN ANDRÉS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Puras y Naturales  ·  Carrera de Informática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DriveSafe AI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Detección de Somnolencia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transporte interdepartamental y vehículos particulares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526280"/>
            <a:ext cx="1463040" cy="36576"/>
          </a:xfrm>
          <a:prstGeom prst="rect">
            <a:avLst/>
          </a:prstGeom>
          <a:solidFill>
            <a:srgbClr val="E8505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 </a:t>
            </a:r>
            <a:pPr indent="0" marL="0">
              <a:buNone/>
            </a:pPr>
            <a:r>
              <a:rPr lang="en-US" sz="12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López Ticona Angela · Mendoza Caspa Ronald · Usnayo Velasco Nathalie · Zapata Nina Harol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 </a:t>
            </a:r>
            <a:pPr indent="0" marL="0">
              <a:buNone/>
            </a:pPr>
            <a:r>
              <a:rPr lang="en-US" sz="12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Lic. Huayna Magne Andrea Belen  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Materia:  </a:t>
            </a:r>
            <a:pPr indent="0" marL="0">
              <a:buNone/>
            </a:pPr>
            <a:r>
              <a:rPr lang="en-US" sz="12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     </a:t>
            </a:r>
            <a:pPr indent="0" marL="0">
              <a:buNone/>
            </a:pPr>
            <a:r>
              <a:rPr lang="en-US" sz="12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La Paz, Bolivia — 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datos al modelo en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A223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305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67919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 variables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8152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de los datos y su estructura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A223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1305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0" y="267919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08152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y correlación de variables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A223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1305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75320" y="267919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308152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filtrado y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A223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7939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48280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del modelo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23036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41148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A2238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427939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26280" y="48280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523036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IA y base de datos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1148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1A2238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75320" y="427939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75320" y="48280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resultados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523036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lógica de negocio y pruebas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dataset propio, generado en tiempo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de fatiga detectada por la app se guarda como una muestra de entrenamiento en la tabla ml_samples, y luego se exporta a dataset.csv para alimentar a train_model.py.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1522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20824" y="3118104"/>
            <a:ext cx="393192" cy="164592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8" name="Shape 6"/>
          <p:cNvSpPr/>
          <p:nvPr/>
        </p:nvSpPr>
        <p:spPr>
          <a:xfrm>
            <a:off x="246888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15224A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27432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ml_samples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41064" y="3118104"/>
            <a:ext cx="393192" cy="164592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15224A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7432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dataset.csv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61304" y="3118104"/>
            <a:ext cx="393192" cy="164592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7432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train_model.py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continuo: cada nueva alerta añade una muestra, permitiendo reentrenar el modelo con datos más recientes.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50876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del dataset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49440" y="23317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ojos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606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apertura de los ojos (EAR)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3264408"/>
            <a:ext cx="128016" cy="128016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32186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bostezos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0" y="32186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35387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bostezos detectados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4197096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41513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tiempo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0" y="41513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44714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conducción en minutos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5129784"/>
            <a:ext cx="128016" cy="128016"/>
          </a:xfrm>
          <a:prstGeom prst="ellipse">
            <a:avLst/>
          </a:prstGeom>
          <a:solidFill>
            <a:srgbClr val="E8505B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50840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fatiga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86800" y="50840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54041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 (0–100)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EXPLORATORIO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variables, todas numéricas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requiere codificación de variables categóricas: el dataset puede entrenar directamente un modelo de regresión.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15224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31720"/>
            <a:ext cx="214884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ojos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 continua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bajos → mayor tiempo con ojos cerrados → mayor riesgo de fatiga.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05740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15224A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331720"/>
            <a:ext cx="2148840" cy="73152"/>
          </a:xfrm>
          <a:prstGeom prst="roundRect">
            <a:avLst/>
          </a:prstGeom>
          <a:solidFill>
            <a:srgbClr val="5FBDB0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bostezos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30175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 discreta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3337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11880" y="3886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cantidad de bostezos, mayor probabilidad de fatiga.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05740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1522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2331720"/>
            <a:ext cx="2148840" cy="73152"/>
          </a:xfrm>
          <a:prstGeom prst="roundRect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tiempo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30175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 continua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337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3886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tiempo continuo de conducción, mayor riesgo de fatiga.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205740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15224A"/>
          </a:solidFill>
          <a:ln/>
        </p:spPr>
      </p:sp>
      <p:sp>
        <p:nvSpPr>
          <p:cNvPr id="24" name="Shape 22"/>
          <p:cNvSpPr/>
          <p:nvPr/>
        </p:nvSpPr>
        <p:spPr>
          <a:xfrm>
            <a:off x="9281160" y="2331720"/>
            <a:ext cx="2148840" cy="73152"/>
          </a:xfrm>
          <a:prstGeom prst="roundRect">
            <a:avLst/>
          </a:prstGeom>
          <a:solidFill>
            <a:srgbClr val="E8505B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fatiga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81160" y="30175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 discreta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3337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81160" y="3886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estimado por el sistema en una escala de 0 a 100.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EXPLORATORIO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Correlación con la fatiga y filtrado de nulos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la variable objetivo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57784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(ojos) ↓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20440" y="2304288"/>
            <a:ext cx="502920" cy="18288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2103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 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57784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803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Bostezos ↑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20440" y="3081528"/>
            <a:ext cx="502920" cy="182880"/>
          </a:xfrm>
          <a:prstGeom prst="rightArrow">
            <a:avLst/>
          </a:prstGeom>
          <a:solidFill>
            <a:srgbClr val="5FBDB0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2880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 ↑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577840" cy="59436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57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conducción ↑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20440" y="3858768"/>
            <a:ext cx="502920" cy="18288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4160520" y="3657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 ↑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completos únicamente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20574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0F1B3C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240280"/>
            <a:ext cx="4709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B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ojos, bostezos, tiempo, fatiga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ml_samples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ojos IS NOT NULL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bostezos IS NOT NULL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tiempo IS NOT NULL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fatiga IS NOT NULL;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44348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imputar valores, el sistema descarta automáticamente cualquier muestra incompleta antes de exportar dataset.csv.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PREPROCESAMIENTO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normalización ni codificación adicional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 — Random Forest Regressor no requiere variables escaladas para un buen desempeño.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7889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 — todas las variables (ojos, bostezos, tiempo, fatiga) ya son numéricas.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8288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7889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 — las variables se usan en el mismo formato capturado por monitor.js.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 entrada y variable objetivo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97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ojos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423160" y="42976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4297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bostezos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97680" y="42976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4297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tiempo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457200" cy="22860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27" name="Shape 25"/>
          <p:cNvSpPr/>
          <p:nvPr/>
        </p:nvSpPr>
        <p:spPr>
          <a:xfrm>
            <a:off x="6766560" y="42976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E8505B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297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fatiga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074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EAR identifica microsueños; los bostezos son un indicador fisiológico de cansancio; el tiempo de conducción incrementa el riesgo progresivamente.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ENTRENAMIENTO DEL MODELO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 con Scikit-learn a partir de dataset.csv, mediante el script train_model.py.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0A13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B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RandomForestRegressor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joblib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pd.read_csv("dataset.csv")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df[["ojos", "bostezos", "tiempo"]]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df["fatiga"]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= RandomForestRegressor()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modelo.fit(X, y)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joblib.dump(modelo, "modelo_fatiga.pkl")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23760" y="20756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datos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223760" y="23591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dataset.csv con pandas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971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9443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variables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23760" y="32278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ojos, bostezos, tiempo · y = fatiga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3840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38130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23760" y="4096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árboles de decisión (Random Forest)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4709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23760" y="46817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223760" y="49651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joblib.dump → modelo_fatiga.pkl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ENTRENAMIENTO DEL MODELO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Random Forest Regressor?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5224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0156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Buena precisión y tolerancia al ruido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76732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 el sobreajuste con múltiples árboles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13308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Modela relaciones no lineales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63600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97433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Mayor tiempo de entrenamiento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534009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Mayor consumo de memoria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4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18745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Considerado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37960" y="23774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Lineal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37960" y="30632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40156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Implementación sencilla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376732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Entrenamiento rápido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37960" y="413308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Fácil interpretación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37960" y="463600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497433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Menor capacidad para relaciones no lineales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ENTRENAMIENTO DEL MODELO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del entrenamiento y evaluación funcional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fue validado mediante pruebas funcionales: dados ojos, bostezos y tiempo, devuelve un nivel de fatiga entre 0 y 100, usado de inmediato para clasificar el riesgo del conductor.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14600"/>
            <a:ext cx="109728" cy="109728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dataset.csv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utilizadas para el entrenamiento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2860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514600"/>
            <a:ext cx="109728" cy="1097280"/>
          </a:xfrm>
          <a:prstGeom prst="roundRect">
            <a:avLst/>
          </a:prstGeom>
          <a:solidFill>
            <a:srgbClr val="E8505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modelo_fatiga.pkl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Random Forest entrenado y serializado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2514600"/>
            <a:ext cx="109728" cy="1097280"/>
          </a:xfrm>
          <a:prstGeom prst="roundRect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model_version.txt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971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versiones del modelo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el proyecto se enfocó en la integración en tiempo real; no se implementó un módulo de métricas automáticas (Accuracy, F1, MSE).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automático del modelo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166360"/>
            <a:ext cx="251460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muestras → dataset.csv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08960" y="5394960"/>
            <a:ext cx="137160" cy="18288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5166360"/>
            <a:ext cx="251460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 Random Forest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06440" y="5394960"/>
            <a:ext cx="137160" cy="18288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5166360"/>
            <a:ext cx="251460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nueva versión de modelo_fatiga.pkl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03920" y="5394960"/>
            <a:ext cx="137160" cy="18288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25" name="Text 23"/>
          <p:cNvSpPr/>
          <p:nvPr/>
        </p:nvSpPr>
        <p:spPr>
          <a:xfrm>
            <a:off x="8641080" y="5166360"/>
            <a:ext cx="251460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backup del modelo anterior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ARQUITECTURA DEL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modular de DriveSafe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6214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606040" cy="9144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· HTML · CSS · 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cámara y GPS; interacción con el usuario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6214A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1691640"/>
            <a:ext cx="2606040" cy="91440"/>
          </a:xfrm>
          <a:prstGeom prst="roundRect">
            <a:avLst/>
          </a:prstGeom>
          <a:solidFill>
            <a:srgbClr val="5FBDB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659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PHP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66160" y="2514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B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api_alerts.php · ml_admin.php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solicitudes, usuarios, rutas y alertas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621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691640"/>
            <a:ext cx="2606040" cy="91440"/>
          </a:xfrm>
          <a:prstGeom prst="roundRect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9659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IA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5080" y="2514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Scikit-Learn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3017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el nivel de fatiga con Random Forest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6214A"/>
          </a:solidFill>
          <a:ln/>
        </p:spPr>
      </p:sp>
      <p:sp>
        <p:nvSpPr>
          <p:cNvPr id="20" name="Shape 18"/>
          <p:cNvSpPr/>
          <p:nvPr/>
        </p:nvSpPr>
        <p:spPr>
          <a:xfrm>
            <a:off x="8915400" y="1691640"/>
            <a:ext cx="2606040" cy="91440"/>
          </a:xfrm>
          <a:prstGeom prst="roundRect">
            <a:avLst/>
          </a:prstGeom>
          <a:solidFill>
            <a:srgbClr val="E8505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19659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144000" y="2514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0" y="3017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vehículos, rutas, alertas y ml_samples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983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el navegador captura las características faciales → el backend consulta el servicio de IA → el resultado se guarda en la base de datos y se muestra al usuario.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ARQUITECTURA DEL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base de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principales: usuarios, conductores, vehículos, viajes, posiciones_ruta, alertas y ml_samples.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206240"/>
          </a:xfrm>
          <a:prstGeom prst="roundRect">
            <a:avLst>
              <a:gd name="adj" fmla="val 1304"/>
            </a:avLst>
          </a:prstGeom>
          <a:solidFill>
            <a:srgbClr val="F4F6FA"/>
          </a:solidFill>
          <a:ln/>
        </p:spPr>
      </p:sp>
      <p:pic>
        <p:nvPicPr>
          <p:cNvPr id="6" name="Image 0" descr="media/db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331720"/>
            <a:ext cx="9418320" cy="41915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ARQUITECTURA DEL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componentes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componentes interactúan en tiempo real para el monitoreo del conductor.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05840" y="1874520"/>
            <a:ext cx="10149840" cy="4480560"/>
          </a:xfrm>
          <a:prstGeom prst="roundRect">
            <a:avLst>
              <a:gd name="adj" fmla="val 1224"/>
            </a:avLst>
          </a:prstGeom>
          <a:solidFill>
            <a:srgbClr val="F4F6FA"/>
          </a:solidFill>
          <a:ln/>
        </p:spPr>
      </p:sp>
      <p:pic>
        <p:nvPicPr>
          <p:cNvPr id="6" name="Image 0" descr="media/compon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103120"/>
            <a:ext cx="7863840" cy="47636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ARQUITECTURA DEL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Actores y casos de uso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Gestionar usuarios, conductores y vehículos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Programar rutas y visualizar alertas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8561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Reentrenar el modelo de 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4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Monitorear rutas activas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2186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Consultar ubicación GPS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78561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Revisar incidentes reportados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4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E8505B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651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Iniciar sesión y seleccionar ruta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32186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Activar el monitoreo y recibir alertas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378561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Reportar incidentes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UML de casos de uso disponible en el Anexo 1 del informe.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INTEGRACIÓN Y RESULTADOS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en tiempo real vía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1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(MediaPipe)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50592" y="2235708"/>
            <a:ext cx="201168" cy="146304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7" name="Shape 5"/>
          <p:cNvSpPr/>
          <p:nvPr/>
        </p:nvSpPr>
        <p:spPr>
          <a:xfrm>
            <a:off x="2679192" y="18288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14A"/>
          </a:solidFill>
          <a:ln/>
        </p:spPr>
      </p:sp>
      <p:sp>
        <p:nvSpPr>
          <p:cNvPr id="8" name="Text 6"/>
          <p:cNvSpPr/>
          <p:nvPr/>
        </p:nvSpPr>
        <p:spPr>
          <a:xfrm>
            <a:off x="2679192" y="18288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api_alerts.php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81144" y="2235708"/>
            <a:ext cx="201168" cy="146304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0" name="Shape 8"/>
          <p:cNvSpPr/>
          <p:nvPr/>
        </p:nvSpPr>
        <p:spPr>
          <a:xfrm>
            <a:off x="4809744" y="18288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809744" y="18288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11696" y="2235708"/>
            <a:ext cx="201168" cy="146304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0296" y="18288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14A"/>
          </a:solidFill>
          <a:ln/>
        </p:spPr>
      </p:sp>
      <p:sp>
        <p:nvSpPr>
          <p:cNvPr id="14" name="Text 12"/>
          <p:cNvSpPr/>
          <p:nvPr/>
        </p:nvSpPr>
        <p:spPr>
          <a:xfrm>
            <a:off x="6940296" y="18288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modelo_fatiga.pkl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42248" y="2235708"/>
            <a:ext cx="201168" cy="146304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6" name="Shape 14"/>
          <p:cNvSpPr/>
          <p:nvPr/>
        </p:nvSpPr>
        <p:spPr>
          <a:xfrm>
            <a:off x="9070848" y="18288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14A"/>
          </a:solidFill>
          <a:ln/>
        </p:spPr>
      </p:sp>
      <p:sp>
        <p:nvSpPr>
          <p:cNvPr id="17" name="Text 15"/>
          <p:cNvSpPr/>
          <p:nvPr/>
        </p:nvSpPr>
        <p:spPr>
          <a:xfrm>
            <a:off x="9070848" y="18288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 (0-100)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respaldo (fallback)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servicio FastAPI no responde, api_alerts.php ejecuta directamente predictor.py mediante shell_exec, garantizando disponibilidad continua del sistema.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3246120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0A1330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4290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respuesta del endpoint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20840" y="379476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B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http://127.0.0.1:8000/predict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B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"ojos": 0.23, "bostezos": 2, "tiempo": 40 }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B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{ "fatiga": 68 }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INTEGRACIÓN Y RESULTADOS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número a una decisión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clasifica el porcentaje de fatiga en cuatro niveles de riesgo y activa la lógica de negocio correspondiente.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5FBDB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3756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– 47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0873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2648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– 71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2194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8505B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2331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1540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– 100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160520"/>
            <a:ext cx="3520440" cy="73152"/>
          </a:xfrm>
          <a:prstGeom prst="roundRect">
            <a:avLst/>
          </a:prstGeom>
          <a:solidFill>
            <a:srgbClr val="5FBDB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343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 0.34 · 0 bostezos · 10 min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 15 — Bajo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1663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continúa sin alertas críticas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7680" y="4160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4160520"/>
            <a:ext cx="3520440" cy="73152"/>
          </a:xfrm>
          <a:prstGeom prst="roundRect">
            <a:avLst/>
          </a:prstGeom>
          <a:solidFill>
            <a:srgbClr val="F087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4343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 0.23 · 2 bostezos · 40 min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2628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 56 — Alto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51663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registrada; se recomienda una pausa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6720" y="4160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4160520"/>
            <a:ext cx="3520440" cy="73152"/>
          </a:xfrm>
          <a:prstGeom prst="roundRect">
            <a:avLst/>
          </a:prstGeom>
          <a:solidFill>
            <a:srgbClr val="E8505B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4343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 0.14 · 4 bostezos · 70 min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7532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 88 — Crítico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75320" y="51663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crítica; se recomienda detener el vehículo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INTEGRACIÓN Y RESULTADOS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en funcionamiento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1A2238">
                <a:alpha val="15000"/>
              </a:srgbClr>
            </a:outerShdw>
          </a:effectLst>
        </p:spPr>
      </p:sp>
      <p:pic>
        <p:nvPicPr>
          <p:cNvPr id="5" name="Image 0" descr="media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01368"/>
            <a:ext cx="3392424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5440680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 administrador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297680" y="169164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1A2238">
                <a:alpha val="15000"/>
              </a:srgbClr>
            </a:outerShdw>
          </a:effectLst>
        </p:spPr>
      </p:sp>
      <p:pic>
        <p:nvPicPr>
          <p:cNvPr id="8" name="Image 1" descr="media/monitor_id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07408" y="1801368"/>
            <a:ext cx="3392424" cy="3611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07408" y="5440680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antes de iniciar sesión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046720" y="169164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1A2238">
                <a:alpha val="15000"/>
              </a:srgbClr>
            </a:outerShdw>
          </a:effectLst>
        </p:spPr>
      </p:sp>
      <p:pic>
        <p:nvPicPr>
          <p:cNvPr id="11" name="Image 2" descr="media/monitor_alert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6448" y="1801368"/>
            <a:ext cx="3392424" cy="3611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56448" y="5440680"/>
            <a:ext cx="3392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somnolencia activa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 |  Detección de somnolencia con Machine Learning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E8505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aplicada a la seguridad vial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DriveSafe AI integra visión artificial, monitoreo en tiempo real y un modelo Random Forest para estimar la fatiga del conductor a partir de la apertura de ojos, los bostezos y el tiempo de conducción.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desacople del servicio de IA mediante FastAPI facilita el mantenimiento y la actualización del modelo, mientras que la recolección continua de muestras permite una mejora progresiva de las predicciones.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406640" y="27889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entrada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06640" y="20116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406640" y="27889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riesgo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06640" y="20116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406640" y="27889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de predicción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+ fallback)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06640" y="1965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1248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entrada (ojos, bostezos, tiempo)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2880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412480" y="3017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riesgo clasificados automáticamente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3794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412480" y="3931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de predicción: API FastAPI + fallback local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943600"/>
            <a:ext cx="1280160" cy="27432"/>
          </a:xfrm>
          <a:prstGeom prst="rect">
            <a:avLst/>
          </a:prstGeom>
          <a:solidFill>
            <a:srgbClr val="5FBDB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Universidad Mayor de San Andrés · Carrera de Informática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2026-07-27T07:27:34Z</dcterms:created>
  <dcterms:modified xsi:type="dcterms:W3CDTF">2026-07-27T07:27:34Z</dcterms:modified>
</cp:coreProperties>
</file>