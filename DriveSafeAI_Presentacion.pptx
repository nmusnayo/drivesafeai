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5656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3840480" cy="3840480"/>
          </a:xfrm>
          <a:prstGeom prst="ellipse">
            <a:avLst/>
          </a:prstGeom>
          <a:solidFill>
            <a:srgbClr val="E8505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kern="0" spc="2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MAYOR DE SAN ANDRÉS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Puras y Naturales  ·  Carrera de Informática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1481328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DriveSafe AI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731520" y="2555748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Detección de Somnolencia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29672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transporte interdepartamental y vehículos particulares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3653028"/>
            <a:ext cx="1463040" cy="36576"/>
          </a:xfrm>
          <a:prstGeom prst="rect">
            <a:avLst/>
          </a:prstGeom>
          <a:solidFill>
            <a:srgbClr val="E8505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918204"/>
            <a:ext cx="4626864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López Ticona Angela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 </a:t>
            </a:r>
            <a:r>
              <a:rPr lang="en-US" sz="2400" dirty="0" err="1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Caspa</a:t>
            </a:r>
            <a:r>
              <a:rPr lang="en-US" sz="24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Ronald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Usnayo Velasco Nathalie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Zapata Nina Harol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595274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 </a:t>
            </a:r>
            <a:r>
              <a:rPr lang="en-US" sz="24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Lic. Huayna Magne Andrea Belen      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 Materia:  </a:t>
            </a:r>
            <a:r>
              <a:rPr lang="en-US" sz="24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      |   La Paz, Bolivia — Julio 2026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los datos al modelo en producción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/>
          <a:effectLst>
            <a:outerShdw blurRad="76200" dist="25400" dir="5400000" algn="bl" rotWithShape="0">
              <a:srgbClr val="1A223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13055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77240" y="2679192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y variables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08152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 los datos y su estructura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96596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/>
          <a:effectLst>
            <a:outerShdw blurRad="76200" dist="25400" dir="5400000" algn="bl" rotWithShape="0">
              <a:srgbClr val="1A223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13055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26280" y="2679192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26280" y="308152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y correlación de variables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/>
          <a:effectLst>
            <a:outerShdw blurRad="76200" dist="25400" dir="5400000" algn="bl" rotWithShape="0">
              <a:srgbClr val="1A223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213055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275320" y="2679192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75320" y="308152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Limpieza, filtrado y features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/>
          <a:effectLst>
            <a:outerShdw blurRad="76200" dist="25400" dir="5400000" algn="bl" rotWithShape="0">
              <a:srgbClr val="1A2238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42793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77240" y="4828032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del modelo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77240" y="523036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Regressor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97680" y="4114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/>
          <a:effectLst>
            <a:outerShdw blurRad="76200" dist="25400" dir="5400000" algn="bl" rotWithShape="0">
              <a:srgbClr val="1A2238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2793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4526280" y="4828032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sistema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26280" y="523036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Frontend, backend, IA y base de datos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046720" y="4114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/>
          <a:effectLst>
            <a:outerShdw blurRad="76200" dist="25400" dir="5400000" algn="bl" rotWithShape="0">
              <a:srgbClr val="1A2238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75320" y="42793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8275320" y="4828032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 resultados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275320" y="523036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API, lógica de negocio y pruebas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dataset propio, generado en tiempo real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de fatiga detectada por la app se guarda como una muestra de entrenamiento en la tabla ml_samples, y luego se exporta a dataset.csv para alimentar a train_model.py.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417320" cy="914400"/>
          </a:xfrm>
          <a:prstGeom prst="roundRect">
            <a:avLst>
              <a:gd name="adj" fmla="val 9000"/>
            </a:avLst>
          </a:prstGeom>
          <a:solidFill>
            <a:srgbClr val="15224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43200"/>
            <a:ext cx="1417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020824" y="3118104"/>
            <a:ext cx="393192" cy="164592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2743200"/>
            <a:ext cx="1417320" cy="914400"/>
          </a:xfrm>
          <a:prstGeom prst="roundRect">
            <a:avLst>
              <a:gd name="adj" fmla="val 9000"/>
            </a:avLst>
          </a:prstGeom>
          <a:solidFill>
            <a:srgbClr val="15224A"/>
          </a:solidFill>
          <a:ln/>
        </p:spPr>
      </p:sp>
      <p:sp>
        <p:nvSpPr>
          <p:cNvPr id="9" name="Text 7"/>
          <p:cNvSpPr/>
          <p:nvPr/>
        </p:nvSpPr>
        <p:spPr>
          <a:xfrm>
            <a:off x="2468880" y="2743200"/>
            <a:ext cx="1417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ml_samples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41064" y="3118104"/>
            <a:ext cx="393192" cy="164592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2743200"/>
            <a:ext cx="1417320" cy="914400"/>
          </a:xfrm>
          <a:prstGeom prst="roundRect">
            <a:avLst>
              <a:gd name="adj" fmla="val 9000"/>
            </a:avLst>
          </a:prstGeom>
          <a:solidFill>
            <a:srgbClr val="15224A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2743200"/>
            <a:ext cx="1417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dataset.csv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861304" y="3118104"/>
            <a:ext cx="393192" cy="164592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2743200"/>
            <a:ext cx="1417320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2743200"/>
            <a:ext cx="1417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train_model.py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393192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continuo: cada nueva alerta añade una muestra, permitiendo reentrenar el modelo con datos más recientes.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1508760"/>
            <a:ext cx="4937760" cy="4480560"/>
          </a:xfrm>
          <a:prstGeom prst="roundRect">
            <a:avLst>
              <a:gd name="adj" fmla="val 1633"/>
            </a:avLst>
          </a:prstGeom>
          <a:solidFill>
            <a:srgbClr val="F4F6FA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1737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del dataset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949440" y="2331720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ojos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686800" y="22860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2606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apertura de los ojos (EAR)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949440" y="3264408"/>
            <a:ext cx="128016" cy="128016"/>
          </a:xfrm>
          <a:prstGeom prst="ellipse">
            <a:avLst/>
          </a:prstGeom>
          <a:solidFill>
            <a:srgbClr val="5FBDB0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321868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bostezos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0" y="321868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23760" y="353872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bostezos detectados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949440" y="4197096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8" name="Text 26"/>
          <p:cNvSpPr/>
          <p:nvPr/>
        </p:nvSpPr>
        <p:spPr>
          <a:xfrm>
            <a:off x="7223760" y="415137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tiempo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686800" y="415137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23760" y="4471416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conducción en minutos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949440" y="5129784"/>
            <a:ext cx="128016" cy="128016"/>
          </a:xfrm>
          <a:prstGeom prst="ellipse">
            <a:avLst/>
          </a:prstGeom>
          <a:solidFill>
            <a:srgbClr val="E8505B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760" y="508406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fatiga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686800" y="508406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5404104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objetivo (0–100)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ANÁLISIS EXPLORATORIO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variables, todas numéricas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requiere codificación de variables categóricas: el dataset puede entrenar directamente un modelo de regresión.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06040" cy="3749040"/>
          </a:xfrm>
          <a:prstGeom prst="roundRect">
            <a:avLst>
              <a:gd name="adj" fmla="val 2807"/>
            </a:avLst>
          </a:prstGeom>
          <a:solidFill>
            <a:srgbClr val="15224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331720"/>
            <a:ext cx="2148840" cy="73152"/>
          </a:xfrm>
          <a:prstGeom prst="round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ojos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 continua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388620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bajos → mayor tiempo con ojos cerrados → mayor riesgo de fatiga.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83280" y="2057400"/>
            <a:ext cx="2606040" cy="3749040"/>
          </a:xfrm>
          <a:prstGeom prst="roundRect">
            <a:avLst>
              <a:gd name="adj" fmla="val 2807"/>
            </a:avLst>
          </a:prstGeom>
          <a:solidFill>
            <a:srgbClr val="15224A"/>
          </a:solidFill>
          <a:ln/>
        </p:spPr>
      </p:sp>
      <p:sp>
        <p:nvSpPr>
          <p:cNvPr id="12" name="Shape 10"/>
          <p:cNvSpPr/>
          <p:nvPr/>
        </p:nvSpPr>
        <p:spPr>
          <a:xfrm>
            <a:off x="3611880" y="2331720"/>
            <a:ext cx="2148840" cy="73152"/>
          </a:xfrm>
          <a:prstGeom prst="roundRect">
            <a:avLst/>
          </a:prstGeom>
          <a:solidFill>
            <a:srgbClr val="5FBDB0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79" y="2560320"/>
            <a:ext cx="2274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bostezos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611880" y="30175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 discreta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11880" y="333756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11880" y="388620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cantidad de bostezos, mayor probabilidad de fatiga.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217920" y="2057400"/>
            <a:ext cx="2606040" cy="3749040"/>
          </a:xfrm>
          <a:prstGeom prst="roundRect">
            <a:avLst>
              <a:gd name="adj" fmla="val 2807"/>
            </a:avLst>
          </a:prstGeom>
          <a:solidFill>
            <a:srgbClr val="15224A"/>
          </a:solidFill>
          <a:ln/>
        </p:spPr>
      </p:sp>
      <p:sp>
        <p:nvSpPr>
          <p:cNvPr id="18" name="Shape 16"/>
          <p:cNvSpPr/>
          <p:nvPr/>
        </p:nvSpPr>
        <p:spPr>
          <a:xfrm>
            <a:off x="6446520" y="2331720"/>
            <a:ext cx="2148840" cy="73152"/>
          </a:xfrm>
          <a:prstGeom prst="roundRect">
            <a:avLst/>
          </a:prstGeom>
          <a:solidFill>
            <a:srgbClr val="F2A541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25603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tiempo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446520" y="30175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 continua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46520" y="333756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388620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tiempo continuo de conducción, mayor riesgo de fatiga.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9052560" y="2057400"/>
            <a:ext cx="2606040" cy="3749040"/>
          </a:xfrm>
          <a:prstGeom prst="roundRect">
            <a:avLst>
              <a:gd name="adj" fmla="val 2807"/>
            </a:avLst>
          </a:prstGeom>
          <a:solidFill>
            <a:srgbClr val="15224A"/>
          </a:solidFill>
          <a:ln/>
        </p:spPr>
      </p:sp>
      <p:sp>
        <p:nvSpPr>
          <p:cNvPr id="24" name="Shape 22"/>
          <p:cNvSpPr/>
          <p:nvPr/>
        </p:nvSpPr>
        <p:spPr>
          <a:xfrm>
            <a:off x="9281160" y="2331720"/>
            <a:ext cx="2148840" cy="73152"/>
          </a:xfrm>
          <a:prstGeom prst="roundRect">
            <a:avLst/>
          </a:prstGeom>
          <a:solidFill>
            <a:srgbClr val="E8505B"/>
          </a:solidFill>
          <a:ln/>
        </p:spPr>
      </p:sp>
      <p:sp>
        <p:nvSpPr>
          <p:cNvPr id="25" name="Text 23"/>
          <p:cNvSpPr/>
          <p:nvPr/>
        </p:nvSpPr>
        <p:spPr>
          <a:xfrm>
            <a:off x="9281160" y="25603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fatiga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9281160" y="30175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85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 discreta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281160" y="333756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281160" y="388620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estimado por el sistema en una escala de 0 a 100.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ANÁLISIS EXPLORATORIO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Correlación con la fatiga y filtrado de nulos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con la variable objetivo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577840" cy="594360"/>
          </a:xfrm>
          <a:prstGeom prst="roundRect">
            <a:avLst>
              <a:gd name="adj" fmla="val 9231"/>
            </a:avLst>
          </a:prstGeom>
          <a:solidFill>
            <a:srgbClr val="F4F6F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 (ojos) 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520440" y="2304288"/>
            <a:ext cx="502920" cy="18288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160520" y="21031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 ↑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577840" cy="594360"/>
          </a:xfrm>
          <a:prstGeom prst="roundRect">
            <a:avLst>
              <a:gd name="adj" fmla="val 9231"/>
            </a:avLst>
          </a:prstGeom>
          <a:solidFill>
            <a:srgbClr val="F4F6F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8803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Bostezos ↑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520440" y="3081528"/>
            <a:ext cx="502920" cy="182880"/>
          </a:xfrm>
          <a:prstGeom prst="rightArrow">
            <a:avLst/>
          </a:prstGeom>
          <a:solidFill>
            <a:srgbClr val="5FBDB0"/>
          </a:solidFill>
          <a:ln/>
        </p:spPr>
      </p:sp>
      <p:sp>
        <p:nvSpPr>
          <p:cNvPr id="12" name="Text 10"/>
          <p:cNvSpPr/>
          <p:nvPr/>
        </p:nvSpPr>
        <p:spPr>
          <a:xfrm>
            <a:off x="4160520" y="2880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 ↑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577840" cy="594360"/>
          </a:xfrm>
          <a:prstGeom prst="roundRect">
            <a:avLst>
              <a:gd name="adj" fmla="val 9231"/>
            </a:avLst>
          </a:prstGeom>
          <a:solidFill>
            <a:srgbClr val="F4F6FA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657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conducción ↑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520440" y="3858768"/>
            <a:ext cx="502920" cy="182880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16" name="Text 14"/>
          <p:cNvSpPr/>
          <p:nvPr/>
        </p:nvSpPr>
        <p:spPr>
          <a:xfrm>
            <a:off x="4160520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 ↑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1600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completos únicamente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400800" y="205740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0F1B3C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2240280"/>
            <a:ext cx="4709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FB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ojos, bostezos, tiempo, fatiga
</a:t>
            </a:r>
            <a:r>
              <a:rPr lang="en-US" sz="1600" dirty="0">
                <a:solidFill>
                  <a:srgbClr val="E9D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ml_samples
</a:t>
            </a: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ojos IS NOT NULL
  AND bostezos IS NOT NULL
  AND tiempo IS NOT NULL
  AND fatiga IS NOT NULL;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0" y="44348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imputar valores, el sistema descarta automáticamente cualquier muestra incompleta antes de exportar dataset.csv.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PREPROCESAMIENTO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normalización ni codificación adicional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aplica — Random Forest Regressor no requiere variables escaladas para un buen desempeño.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828800"/>
            <a:ext cx="457200" cy="457200"/>
          </a:xfrm>
          <a:prstGeom prst="ellipse">
            <a:avLst/>
          </a:prstGeom>
          <a:solidFill>
            <a:srgbClr val="5FBDB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27889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aplica — todas las variables (ojos, bostezos, tiempo, fatiga) ya son numéricas.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828800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32104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27889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aplica — las variables se usan en el mismo formato capturado por monitor.js.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 entrada y variable objetivo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1737360" cy="502920"/>
          </a:xfrm>
          <a:prstGeom prst="roundRect">
            <a:avLst>
              <a:gd name="adj" fmla="val 49091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97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ojos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2423160" y="4297680"/>
            <a:ext cx="1737360" cy="502920"/>
          </a:xfrm>
          <a:prstGeom prst="roundRect">
            <a:avLst>
              <a:gd name="adj" fmla="val 49091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2423160" y="4297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bostezos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297680" y="4297680"/>
            <a:ext cx="1737360" cy="502920"/>
          </a:xfrm>
          <a:prstGeom prst="roundRect">
            <a:avLst>
              <a:gd name="adj" fmla="val 49091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4297680" y="4297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tiempo</a:t>
            </a: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217920" y="4434840"/>
            <a:ext cx="457200" cy="228600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27" name="Shape 25"/>
          <p:cNvSpPr/>
          <p:nvPr/>
        </p:nvSpPr>
        <p:spPr>
          <a:xfrm>
            <a:off x="6766560" y="4297680"/>
            <a:ext cx="1737360" cy="502920"/>
          </a:xfrm>
          <a:prstGeom prst="roundRect">
            <a:avLst>
              <a:gd name="adj" fmla="val 49091"/>
            </a:avLst>
          </a:prstGeom>
          <a:solidFill>
            <a:srgbClr val="E8505B"/>
          </a:solidFill>
          <a:ln/>
        </p:spPr>
      </p:sp>
      <p:sp>
        <p:nvSpPr>
          <p:cNvPr id="28" name="Text 26"/>
          <p:cNvSpPr/>
          <p:nvPr/>
        </p:nvSpPr>
        <p:spPr>
          <a:xfrm>
            <a:off x="6766560" y="4297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fatiga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50749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EAR identifica microsueños; los bostezos son un indicador fisiológico de cansancio; el tiempo de conducción incrementa el riesgo progresivamente.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ENTRENAMIENTO DEL MODELO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 Regressor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con Scikit-learn a partir de dataset.csv, mediante el script train_model.py.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669280" cy="4288802"/>
          </a:xfrm>
          <a:prstGeom prst="roundRect">
            <a:avLst>
              <a:gd name="adj" fmla="val 2051"/>
            </a:avLst>
          </a:prstGeom>
          <a:solidFill>
            <a:srgbClr val="0A13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31720"/>
            <a:ext cx="51206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
</a:t>
            </a:r>
            <a:r>
              <a:rPr lang="en-US" sz="1600" dirty="0">
                <a:solidFill>
                  <a:srgbClr val="5FB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sklearn.ensemble import RandomForestRegressor
</a:t>
            </a:r>
            <a:r>
              <a:rPr lang="en-US" sz="1600" dirty="0">
                <a:solidFill>
                  <a:srgbClr val="9AA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joblib
</a:t>
            </a: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pd.read_csv("dataset.csv")
X = df[["ojos", "bostezos", "tiempo"]]
y = df["fatiga"]
</a:t>
            </a:r>
            <a:r>
              <a:rPr lang="en-US" sz="1600" dirty="0">
                <a:solidFill>
                  <a:srgbClr val="F2A5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 = RandomForestRegressor()
</a:t>
            </a: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modelo.fit(X, y)
</a:t>
            </a:r>
            <a:r>
              <a:rPr lang="en-US" sz="1600" dirty="0">
                <a:solidFill>
                  <a:srgbClr val="E85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joblib.dump(modelo, "modelo_fatiga.pkl")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0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223760" y="20756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datos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3760" y="235915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dataset.csv con pandas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0" y="29718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23760" y="294436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variables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23760" y="32278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ojos, bostezos, tiempo · y = fatiga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83680" y="38404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223760" y="381304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223760" y="40965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árboles de decisión (Random Forest)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83680" y="47091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709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223760" y="468172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Serialización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223760" y="49651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joblib.dump → modelo_fatiga.pkl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ENTRENAMIENTO DEL MODELO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Random Forest Regressor?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5224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 Regressor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06324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Buena precisión y tolerancia al ruido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3767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Reduce el sobreajuste con múltiples árboles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8680" y="41330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Modela relaciones no lineales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868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Desventajas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680" y="497433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Mayor tiempo de entrenamiento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680" y="534009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6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Mayor consumo de memoria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17920" y="160020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F4F6FA"/>
          </a:solidFill>
          <a:ln/>
        </p:spPr>
      </p:sp>
      <p:sp>
        <p:nvSpPr>
          <p:cNvPr id="16" name="Shape 14"/>
          <p:cNvSpPr/>
          <p:nvPr/>
        </p:nvSpPr>
        <p:spPr>
          <a:xfrm>
            <a:off x="6537960" y="18745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874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Considerado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237744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Regresión Lineal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537960" y="306324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37960" y="340156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Implementación sencilla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37960" y="376732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Entrenamiento rápido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537960" y="413308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Fácil interpretación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37960" y="4636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Desventajas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497433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Menor capacidad para relaciones no lineales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9656" y="384048"/>
            <a:ext cx="7374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ENTRENAMIENTO DEL MODELO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49139" y="842713"/>
            <a:ext cx="10876921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del entrenamiento y evaluación funcional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34343" y="1921572"/>
            <a:ext cx="1087692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fue validado mediante pruebas funcionales: dados ojos, bostezos y tiempo, devuelve un nivel de fatiga entre 0 y 100, usado de inmediato para clasificar el riesgo del conductor.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49458" y="2721006"/>
            <a:ext cx="3548826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/>
        </p:spPr>
      </p:sp>
      <p:sp>
        <p:nvSpPr>
          <p:cNvPr id="6" name="Shape 4"/>
          <p:cNvSpPr/>
          <p:nvPr/>
        </p:nvSpPr>
        <p:spPr>
          <a:xfrm>
            <a:off x="705559" y="2949606"/>
            <a:ext cx="110613" cy="1097280"/>
          </a:xfrm>
          <a:prstGeom prst="round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911451" y="2949606"/>
            <a:ext cx="29496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dataset.csv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1451" y="3406806"/>
            <a:ext cx="2949673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utilizadas para el entrenamiento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198498" y="2721006"/>
            <a:ext cx="3548826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/>
        </p:spPr>
      </p:sp>
      <p:sp>
        <p:nvSpPr>
          <p:cNvPr id="10" name="Shape 8"/>
          <p:cNvSpPr/>
          <p:nvPr/>
        </p:nvSpPr>
        <p:spPr>
          <a:xfrm>
            <a:off x="4454599" y="2949606"/>
            <a:ext cx="110613" cy="1097280"/>
          </a:xfrm>
          <a:prstGeom prst="roundRect">
            <a:avLst/>
          </a:prstGeom>
          <a:solidFill>
            <a:srgbClr val="E8505B"/>
          </a:solidFill>
          <a:ln/>
        </p:spPr>
      </p:sp>
      <p:sp>
        <p:nvSpPr>
          <p:cNvPr id="11" name="Text 9"/>
          <p:cNvSpPr/>
          <p:nvPr/>
        </p:nvSpPr>
        <p:spPr>
          <a:xfrm>
            <a:off x="4660491" y="2949606"/>
            <a:ext cx="29496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modelo_fatiga.pkl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60491" y="3406806"/>
            <a:ext cx="2949673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Random Forest entrenado y serializado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947538" y="2721006"/>
            <a:ext cx="3548826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/>
        </p:spPr>
      </p:sp>
      <p:sp>
        <p:nvSpPr>
          <p:cNvPr id="14" name="Shape 12"/>
          <p:cNvSpPr/>
          <p:nvPr/>
        </p:nvSpPr>
        <p:spPr>
          <a:xfrm>
            <a:off x="8203639" y="2949606"/>
            <a:ext cx="110613" cy="1097280"/>
          </a:xfrm>
          <a:prstGeom prst="roundRect">
            <a:avLst/>
          </a:prstGeom>
          <a:solidFill>
            <a:srgbClr val="F2A541"/>
          </a:solidFill>
          <a:ln/>
        </p:spPr>
      </p:sp>
      <p:sp>
        <p:nvSpPr>
          <p:cNvPr id="15" name="Text 13"/>
          <p:cNvSpPr/>
          <p:nvPr/>
        </p:nvSpPr>
        <p:spPr>
          <a:xfrm>
            <a:off x="8409531" y="2949606"/>
            <a:ext cx="29496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model_version.txt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409531" y="3406806"/>
            <a:ext cx="2949673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versiones del modelo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90843" y="4549806"/>
            <a:ext cx="1087692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el proyecto se enfocó en la integración en tiempo real; no se implementó un módulo de métricas automáticas (Accuracy, F1, MSE).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18860" y="5144166"/>
            <a:ext cx="7374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automático del modelo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568" y="5601366"/>
            <a:ext cx="2534876" cy="640080"/>
          </a:xfrm>
          <a:prstGeom prst="rect">
            <a:avLst/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muestras → dataset.csv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037058" y="5829966"/>
            <a:ext cx="138266" cy="182880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21" name="Text 19"/>
          <p:cNvSpPr/>
          <p:nvPr/>
        </p:nvSpPr>
        <p:spPr>
          <a:xfrm>
            <a:off x="3155048" y="5601366"/>
            <a:ext cx="2534876" cy="640080"/>
          </a:xfrm>
          <a:prstGeom prst="rect">
            <a:avLst/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 Random Forest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34538" y="5829966"/>
            <a:ext cx="138266" cy="182880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23" name="Text 21"/>
          <p:cNvSpPr/>
          <p:nvPr/>
        </p:nvSpPr>
        <p:spPr>
          <a:xfrm>
            <a:off x="5852528" y="5601366"/>
            <a:ext cx="2534876" cy="640080"/>
          </a:xfrm>
          <a:prstGeom prst="rect">
            <a:avLst/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nueva versión de modelo_fatiga.pkl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432018" y="5829966"/>
            <a:ext cx="138266" cy="182880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25" name="Text 23"/>
          <p:cNvSpPr/>
          <p:nvPr/>
        </p:nvSpPr>
        <p:spPr>
          <a:xfrm>
            <a:off x="8550008" y="5601366"/>
            <a:ext cx="2534876" cy="640080"/>
          </a:xfrm>
          <a:prstGeom prst="rect">
            <a:avLst/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backup del modelo anterior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90843" y="6537960"/>
            <a:ext cx="829595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517754" y="6537960"/>
            <a:ext cx="4608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ARQUITECTURA DEL SISTEMA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modular de DriveSafe AI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6214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91640"/>
            <a:ext cx="2606040" cy="91440"/>
          </a:xfrm>
          <a:prstGeom prst="round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 · HTML · CSS · JS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cámara y GPS; interacción con el usuario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6214A"/>
          </a:solidFill>
          <a:ln/>
        </p:spPr>
      </p:sp>
      <p:sp>
        <p:nvSpPr>
          <p:cNvPr id="10" name="Shape 8"/>
          <p:cNvSpPr/>
          <p:nvPr/>
        </p:nvSpPr>
        <p:spPr>
          <a:xfrm>
            <a:off x="3337560" y="1691640"/>
            <a:ext cx="2606040" cy="91440"/>
          </a:xfrm>
          <a:prstGeom prst="roundRect">
            <a:avLst/>
          </a:prstGeom>
          <a:solidFill>
            <a:srgbClr val="5FBDB0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96596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PHP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6616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B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api_alerts.php · ml_admin.php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01752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 solicitudes, usuarios, rutas y alertas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12648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621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6480" y="1691640"/>
            <a:ext cx="2606040" cy="91440"/>
          </a:xfrm>
          <a:prstGeom prst="roundRect">
            <a:avLst/>
          </a:prstGeom>
          <a:solidFill>
            <a:srgbClr val="F2A541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96596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de IA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5508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A5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Scikit-Learn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301752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el nivel de fatiga con Random Forest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91540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6214A"/>
          </a:solidFill>
          <a:ln/>
        </p:spPr>
      </p:sp>
      <p:sp>
        <p:nvSpPr>
          <p:cNvPr id="20" name="Shape 18"/>
          <p:cNvSpPr/>
          <p:nvPr/>
        </p:nvSpPr>
        <p:spPr>
          <a:xfrm>
            <a:off x="8915400" y="1691640"/>
            <a:ext cx="2606040" cy="91440"/>
          </a:xfrm>
          <a:prstGeom prst="roundRect">
            <a:avLst/>
          </a:prstGeom>
          <a:solidFill>
            <a:srgbClr val="E8505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0" y="196596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0" y="2514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5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0" y="301752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vehículos, rutas, alertas y ml_samples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4983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Flujo: el navegador captura las características faciales → el backend consulta el servicio de IA → el resultado se guarda en la base de datos y se muestra al usuario.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ARQUITECTURA DEL SISTEMA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base de datos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principales: usuarios, conductores, vehículos, viajes, posiciones_ruta, alertas y ml_samples.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4206240"/>
          </a:xfrm>
          <a:prstGeom prst="roundRect">
            <a:avLst>
              <a:gd name="adj" fmla="val 1304"/>
            </a:avLst>
          </a:prstGeom>
          <a:solidFill>
            <a:srgbClr val="F4F6FA"/>
          </a:solidFill>
          <a:ln/>
        </p:spPr>
      </p:sp>
      <p:pic>
        <p:nvPicPr>
          <p:cNvPr id="6" name="Image 0" descr="media/db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331720"/>
            <a:ext cx="9418320" cy="41915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ARQUITECTURA DEL SISTEMA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componentes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componentes interactúan en tiempo real para el monitoreo del conductor.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1874520"/>
            <a:ext cx="10149840" cy="4480560"/>
          </a:xfrm>
          <a:prstGeom prst="roundRect">
            <a:avLst>
              <a:gd name="adj" fmla="val 1224"/>
            </a:avLst>
          </a:prstGeom>
          <a:solidFill>
            <a:srgbClr val="F4F6FA"/>
          </a:solidFill>
          <a:ln/>
        </p:spPr>
      </p:sp>
      <p:pic>
        <p:nvPicPr>
          <p:cNvPr id="6" name="Image 0" descr="media/compon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03120"/>
            <a:ext cx="7863840" cy="47636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ARQUITECTURA DEL SISTEMA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Actores y casos de uso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880360"/>
          </a:xfrm>
          <a:prstGeom prst="roundRect">
            <a:avLst>
              <a:gd name="adj" fmla="val 2540"/>
            </a:avLst>
          </a:prstGeom>
          <a:solidFill>
            <a:srgbClr val="F4F6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9659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Gestionar usuarios, conductores y vehículos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321868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Programar rutas y visualizar alertas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3785616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Reentrenar el modelo de ML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520440" cy="2880360"/>
          </a:xfrm>
          <a:prstGeom prst="roundRect">
            <a:avLst>
              <a:gd name="adj" fmla="val 2540"/>
            </a:avLst>
          </a:prstGeom>
          <a:solidFill>
            <a:srgbClr val="F4F6F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965960"/>
            <a:ext cx="502920" cy="50292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19659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651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Monitorear rutas activas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0" y="321868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Consultar ubicación GPS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0" y="3785616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Revisar incidentes reportados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046720" y="1691640"/>
            <a:ext cx="3520440" cy="2880360"/>
          </a:xfrm>
          <a:prstGeom prst="roundRect">
            <a:avLst>
              <a:gd name="adj" fmla="val 2540"/>
            </a:avLst>
          </a:prstGeom>
          <a:solidFill>
            <a:srgbClr val="F4F6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321040" y="1965960"/>
            <a:ext cx="502920" cy="502920"/>
          </a:xfrm>
          <a:prstGeom prst="ellipse">
            <a:avLst/>
          </a:prstGeom>
          <a:solidFill>
            <a:srgbClr val="E8505B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0" y="19659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Conductor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Iniciar sesión y seleccionar ruta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321040" y="321868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Activar el monitoreo y recibir alertas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21040" y="3785616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Reportar incidentes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48640" y="48006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UML de casos de uso disponible en el Anexo 1 del informe.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INTEGRACIÓN Y RESULTADOS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Predicción en tiempo real vía API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1621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874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(MediaPipe)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50592" y="2235708"/>
            <a:ext cx="201168" cy="146304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7" name="Shape 5"/>
          <p:cNvSpPr/>
          <p:nvPr/>
        </p:nvSpPr>
        <p:spPr>
          <a:xfrm>
            <a:off x="2679192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16214A"/>
          </a:solidFill>
          <a:ln/>
        </p:spPr>
      </p:sp>
      <p:sp>
        <p:nvSpPr>
          <p:cNvPr id="8" name="Text 6"/>
          <p:cNvSpPr/>
          <p:nvPr/>
        </p:nvSpPr>
        <p:spPr>
          <a:xfrm>
            <a:off x="2679192" y="1828800"/>
            <a:ext cx="1874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api_alerts.php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81144" y="2235708"/>
            <a:ext cx="201168" cy="146304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10" name="Shape 8"/>
          <p:cNvSpPr/>
          <p:nvPr/>
        </p:nvSpPr>
        <p:spPr>
          <a:xfrm>
            <a:off x="4809744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809744" y="1828800"/>
            <a:ext cx="1874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711696" y="2235708"/>
            <a:ext cx="201168" cy="146304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13" name="Shape 11"/>
          <p:cNvSpPr/>
          <p:nvPr/>
        </p:nvSpPr>
        <p:spPr>
          <a:xfrm>
            <a:off x="6940296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16214A"/>
          </a:solidFill>
          <a:ln/>
        </p:spPr>
      </p:sp>
      <p:sp>
        <p:nvSpPr>
          <p:cNvPr id="14" name="Text 12"/>
          <p:cNvSpPr/>
          <p:nvPr/>
        </p:nvSpPr>
        <p:spPr>
          <a:xfrm>
            <a:off x="6940296" y="1828800"/>
            <a:ext cx="1874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modelo_fatiga.pkl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842248" y="2235708"/>
            <a:ext cx="201168" cy="146304"/>
          </a:xfrm>
          <a:prstGeom prst="rightArrow">
            <a:avLst/>
          </a:prstGeom>
          <a:solidFill>
            <a:srgbClr val="F2A541"/>
          </a:solidFill>
          <a:ln/>
        </p:spPr>
      </p:sp>
      <p:sp>
        <p:nvSpPr>
          <p:cNvPr id="16" name="Shape 14"/>
          <p:cNvSpPr/>
          <p:nvPr/>
        </p:nvSpPr>
        <p:spPr>
          <a:xfrm>
            <a:off x="9070848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16214A"/>
          </a:solidFill>
          <a:ln/>
        </p:spPr>
      </p:sp>
      <p:sp>
        <p:nvSpPr>
          <p:cNvPr id="17" name="Text 15"/>
          <p:cNvSpPr/>
          <p:nvPr/>
        </p:nvSpPr>
        <p:spPr>
          <a:xfrm>
            <a:off x="9070848" y="1828800"/>
            <a:ext cx="1874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 (0-100)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de respaldo (fallback)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3657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servicio FastAPI no responde, api_alerts.php ejecuta directamente predictor.py mediante shell_exec, garantizando disponibilidad continua del sistema.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492240" y="3246120"/>
            <a:ext cx="5120640" cy="2606040"/>
          </a:xfrm>
          <a:prstGeom prst="roundRect">
            <a:avLst>
              <a:gd name="adj" fmla="val 2807"/>
            </a:avLst>
          </a:prstGeom>
          <a:solidFill>
            <a:srgbClr val="0A1330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34290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respuesta del endpoint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20840" y="3794760"/>
            <a:ext cx="46634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5FB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http://127.0.0.1:8000/predict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5FB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"ojos": 0.23, "bostezos": 2, "tiempo": 40 }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5FB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{ "fatiga": 68 }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INTEGRACIÓN Y RESULTADOS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 número a una decisión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clasifica el porcentaje de fatiga en cuatro niveles de riesgo y activa la lógica de negocio correspondiente.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5FBDB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23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2194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2A541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23317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337560" y="27889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– 47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26480" y="2194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0873A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23317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126480" y="27889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– 71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915400" y="2194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505B"/>
          </a:solidFill>
          <a:ln/>
        </p:spPr>
      </p:sp>
      <p:sp>
        <p:nvSpPr>
          <p:cNvPr id="15" name="Text 13"/>
          <p:cNvSpPr/>
          <p:nvPr/>
        </p:nvSpPr>
        <p:spPr>
          <a:xfrm>
            <a:off x="8915400" y="23317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915400" y="27889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– 100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4F6FA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4160520"/>
            <a:ext cx="3520440" cy="73152"/>
          </a:xfrm>
          <a:prstGeom prst="roundRect">
            <a:avLst/>
          </a:prstGeom>
          <a:solidFill>
            <a:srgbClr val="5FBDB0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3434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 0.34 · 0 bostezos · 10 min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48006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 15 — Bajo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77240" y="51663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continúa sin alertas críticas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97680" y="41605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4F6FA"/>
          </a:solidFill>
          <a:ln/>
        </p:spPr>
      </p:sp>
      <p:sp>
        <p:nvSpPr>
          <p:cNvPr id="24" name="Shape 22"/>
          <p:cNvSpPr/>
          <p:nvPr/>
        </p:nvSpPr>
        <p:spPr>
          <a:xfrm>
            <a:off x="4297680" y="4160520"/>
            <a:ext cx="3520440" cy="73152"/>
          </a:xfrm>
          <a:prstGeom prst="roundRect">
            <a:avLst/>
          </a:prstGeom>
          <a:solidFill>
            <a:srgbClr val="F0873A"/>
          </a:solidFill>
          <a:ln/>
        </p:spPr>
      </p:sp>
      <p:sp>
        <p:nvSpPr>
          <p:cNvPr id="25" name="Text 23"/>
          <p:cNvSpPr/>
          <p:nvPr/>
        </p:nvSpPr>
        <p:spPr>
          <a:xfrm>
            <a:off x="4526280" y="43434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 0.23 · 2 bostezos · 40 min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26280" y="48006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 56 — Alto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26280" y="51663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registrada; se recomienda una pausa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046720" y="41605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4F6FA"/>
          </a:solidFill>
          <a:ln/>
        </p:spPr>
      </p:sp>
      <p:sp>
        <p:nvSpPr>
          <p:cNvPr id="29" name="Shape 27"/>
          <p:cNvSpPr/>
          <p:nvPr/>
        </p:nvSpPr>
        <p:spPr>
          <a:xfrm>
            <a:off x="8046720" y="4160520"/>
            <a:ext cx="3520440" cy="73152"/>
          </a:xfrm>
          <a:prstGeom prst="roundRect">
            <a:avLst/>
          </a:prstGeom>
          <a:solidFill>
            <a:srgbClr val="E8505B"/>
          </a:solidFill>
          <a:ln/>
        </p:spPr>
      </p:sp>
      <p:sp>
        <p:nvSpPr>
          <p:cNvPr id="30" name="Text 28"/>
          <p:cNvSpPr/>
          <p:nvPr/>
        </p:nvSpPr>
        <p:spPr>
          <a:xfrm>
            <a:off x="8275320" y="43434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 0.14 · 4 bostezos · 70 min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75320" y="48006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 88 — Crítico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8275320" y="51663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crítica; se recomienda detener el vehículo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INTEGRACIÓN Y RESULTADOS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en funcionamiento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4F6FA"/>
          </a:solidFill>
          <a:ln/>
          <a:effectLst>
            <a:outerShdw blurRad="101600" dist="38100" dir="5400000" algn="bl" rotWithShape="0">
              <a:srgbClr val="1A2238">
                <a:alpha val="15000"/>
              </a:srgbClr>
            </a:outerShdw>
          </a:effectLst>
        </p:spPr>
      </p:sp>
      <p:pic>
        <p:nvPicPr>
          <p:cNvPr id="5" name="Image 0" descr="media/dashbo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8368" y="1801368"/>
            <a:ext cx="3392424" cy="3611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5440680"/>
            <a:ext cx="3392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del administrador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297680" y="169164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4F6FA"/>
          </a:solidFill>
          <a:ln/>
          <a:effectLst>
            <a:outerShdw blurRad="101600" dist="38100" dir="5400000" algn="bl" rotWithShape="0">
              <a:srgbClr val="1A2238">
                <a:alpha val="15000"/>
              </a:srgbClr>
            </a:outerShdw>
          </a:effectLst>
        </p:spPr>
      </p:sp>
      <p:pic>
        <p:nvPicPr>
          <p:cNvPr id="8" name="Image 1" descr="media/monitor_idl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07408" y="1801368"/>
            <a:ext cx="3392424" cy="3611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97680" y="544068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antes de iniciar sesión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8046720" y="169164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4F6FA"/>
          </a:solidFill>
          <a:ln/>
          <a:effectLst>
            <a:outerShdw blurRad="101600" dist="38100" dir="5400000" algn="bl" rotWithShape="0">
              <a:srgbClr val="1A2238">
                <a:alpha val="15000"/>
              </a:srgbClr>
            </a:outerShdw>
          </a:effectLst>
        </p:spPr>
      </p:sp>
      <p:pic>
        <p:nvPicPr>
          <p:cNvPr id="11" name="Image 2" descr="media/monitor_alerta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56448" y="1801368"/>
            <a:ext cx="3392424" cy="3611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156448" y="5440680"/>
            <a:ext cx="3392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somnolencia activa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 |  Detección de somnolencia con Machine Learning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114800"/>
            <a:ext cx="4114800" cy="4114800"/>
          </a:xfrm>
          <a:prstGeom prst="ellipse">
            <a:avLst/>
          </a:prstGeom>
          <a:solidFill>
            <a:srgbClr val="E8505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0560" y="1351026"/>
            <a:ext cx="64891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aplicada a la seguridad vial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83764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DriveSafe AI integra visión artificial, monitoreo en tiempo real y un modelo Random Forest para estimar la fatiga del conductor a partir de la apertura de ojos, los bostezos y el tiempo de conducción.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105656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desacople del servicio de IA mediante FastAPI facilita el mantenimiento y la actualización del modelo, mientras que la recolección continua de muestras permite una mejora progresiva de las predicciones.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406640" y="2615184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5FBD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321040" y="2683764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entrada (ojos, bostezos, tiempo)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06640" y="3401568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8412480" y="353872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 de riesgo clasificados automáticamente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4315968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850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8412480" y="445312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mecanismos de predicción: API FastAPI + fallback local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280160" cy="27432"/>
          </a:xfrm>
          <a:prstGeom prst="rect">
            <a:avLst/>
          </a:prstGeom>
          <a:solidFill>
            <a:srgbClr val="5FBDB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A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— Universidad Mayor de San Andrés · Carrera de Informática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1634</Words>
  <Application>Microsoft Office PowerPoint</Application>
  <PresentationFormat>Panorámica</PresentationFormat>
  <Paragraphs>290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Nathalie Maya Usnayo Velasco</cp:lastModifiedBy>
  <cp:revision>4</cp:revision>
  <dcterms:created xsi:type="dcterms:W3CDTF">2026-07-27T07:27:34Z</dcterms:created>
  <dcterms:modified xsi:type="dcterms:W3CDTF">2026-07-27T07:51:45Z</dcterms:modified>
</cp:coreProperties>
</file>